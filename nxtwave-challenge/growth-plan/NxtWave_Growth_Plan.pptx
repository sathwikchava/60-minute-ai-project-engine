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7680960" cy="5120640"/>
          </a:xfrm>
          <a:prstGeom prst="rect">
            <a:avLst/>
          </a:prstGeom>
          <a:solidFill>
            <a:srgbClr val="1A3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</a:rPr>
              <a:t>NXTWAVE GROWTH INTERN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00200"/>
            <a:ext cx="7315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Build Your First AI Project
in 60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290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Campaign to get 500 Final-Year Engineering Students to Register
in 7 Days with a Budget of Rs.2,000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6634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DA1E8"/>
                </a:solidFill>
              </a:rPr>
              <a:t>Growth Plan by Chava Sathwik | 4th Year Engineering Student | Round 1 Submission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778240" y="1097280"/>
            <a:ext cx="2743200" cy="1097280"/>
          </a:xfrm>
          <a:prstGeom prst="rect">
            <a:avLst/>
          </a:prstGeom>
          <a:solidFill>
            <a:srgbClr val="2352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0" y="116128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6B6D4"/>
                </a:solidFill>
              </a:rPr>
              <a:t>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16916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Seats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2423160"/>
            <a:ext cx="2743200" cy="1097280"/>
          </a:xfrm>
          <a:prstGeom prst="rect">
            <a:avLst/>
          </a:prstGeom>
          <a:solidFill>
            <a:srgbClr val="2352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248716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6B6D4"/>
                </a:solidFill>
              </a:rPr>
              <a:t>Rs.2,000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30175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Budget Cap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0" y="3749039"/>
            <a:ext cx="2743200" cy="1097280"/>
          </a:xfrm>
          <a:prstGeom prst="rect">
            <a:avLst/>
          </a:prstGeom>
          <a:solidFill>
            <a:srgbClr val="2352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381304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6B6D4"/>
                </a:solidFill>
              </a:rPr>
              <a:t>7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43434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Duration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0" y="5074920"/>
            <a:ext cx="2743200" cy="1097280"/>
          </a:xfrm>
          <a:prstGeom prst="rect">
            <a:avLst/>
          </a:prstGeom>
          <a:solidFill>
            <a:srgbClr val="2352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513892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6B6D4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56692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Channels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SLIDE 1 / 4 - WHO IS THE TARGET STUDENT?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E40AF"/>
                </a:solidFill>
              </a:rPr>
              <a:t>The Anxious Final-Year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727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Exact segment, pain points, and specific registration triggers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03120"/>
            <a:ext cx="3749039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2103120"/>
            <a:ext cx="3749039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130552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WHO THEY 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Final-year CSE / ECE / IT (2025-2026 batch)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1546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Tier-2 &amp; Tier-3 colleges: JNTU, Anna Univ, VTU, AKTU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0332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- 3+ courses consumed, 0 own projects deployed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5196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Placement season starts in 60-90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0060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Smartphone-first: discovered link via WhatsApp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103120"/>
            <a:ext cx="3749039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2103120"/>
            <a:ext cx="3749039" cy="3657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130552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ANXIETY TRIGGERS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6060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Placement form demands a live GitHub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1546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Batchmates bragging about personal project demos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70332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Library Management System on resume feels weak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25196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No GPU access, heavy frameworks feel overwhelming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0060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Tutorial courses never lead to actual deployment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2103120"/>
            <a:ext cx="3749039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0" y="2103120"/>
            <a:ext cx="374903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2130552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WHAT MAKES THEM REGISTER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26060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- 60-minute BUILD and DEPLOY promise is credible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31546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Free verified certificate for placement records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70332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Peer or ambassador shared the link (social trust)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425196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Beginner-friendly - no heavy ML math required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80060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Workshop is THIS Saturday - urgency is real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SLIDE 2 / 4 - CAMPAIGN PLAN: 4 PRIORITISED CHANNELS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</a:rPr>
              <a:t>Deliberate Prioritisation, Not a Channel Dump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64208"/>
            <a:ext cx="11430000" cy="10789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664208"/>
            <a:ext cx="137160" cy="10789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37360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40AF"/>
                </a:solidFill>
              </a:rPr>
              <a:t>#1  Campus Ambassador WhatsApp Drops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1284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</a:rPr>
              <a:t>Expected: 250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755648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25 ambassadors span 18 tier-2/3 colleges. Pre-existing trust in peer messages converts at 40%+. Zero variable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175564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</a:rPr>
              <a:t>Rs.1,200 prize pool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34640"/>
            <a:ext cx="11430000" cy="10789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834640"/>
            <a:ext cx="137160" cy="10789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90779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40AF"/>
                </a:solidFill>
              </a:rPr>
              <a:t>#2  Viral Referral Loop (Built-in Engine)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3832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</a:rPr>
              <a:t>Expected: 130 leads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92608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Every registrant gets unique code. 3-friend milestone unlocks VIP reward. Compound growth, k-factor approx 0.38.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926080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0B981"/>
                </a:solidFill>
              </a:rPr>
              <a:t>Rs.0 (tool built)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005072"/>
            <a:ext cx="11430000" cy="10789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005072"/>
            <a:ext cx="137160" cy="10789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078224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40AF"/>
                </a:solidFill>
              </a:rPr>
              <a:t>#3  College Club + HOD Email Blast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55371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</a:rPr>
              <a:t>Expected: 80 leads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096511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Official placement cell endorsement. CSI/ACM chapters forward to batch WhatsApp. Higher show-up rate than social.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4096511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6B6D4"/>
                </a:solidFill>
              </a:rPr>
              <a:t>Rs.0 (free email)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175504"/>
            <a:ext cx="11430000" cy="10789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5175504"/>
            <a:ext cx="137160" cy="10789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248656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40AF"/>
                </a:solidFill>
              </a:rPr>
              <a:t>#4  LinkedIn + Instagram Reel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72414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Expected: 40 leads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266944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1 short-form reel + 3 posts targeting final-year engineering hashtags. Only 1 post boosted to cap ad spend.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5266944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Rs.800 boost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SLIDE 3 / 4 - FUNNEL MATH + Rs.2,000 BUDGET BREAKDOWN + 7-DAY CALENDAR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40AF"/>
                </a:solidFill>
              </a:rPr>
              <a:t>How 500 Registrations Add Up  [All rates are stated assumptions/estimates]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72768"/>
            <a:ext cx="1975104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591056"/>
            <a:ext cx="1938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Channel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1572768"/>
            <a:ext cx="1655064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1591056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Reach [est]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1572768"/>
            <a:ext cx="832103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1591056"/>
            <a:ext cx="795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CTR [est]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92040" y="1572768"/>
            <a:ext cx="649224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1591056"/>
            <a:ext cx="6126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Clicks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1572768"/>
            <a:ext cx="1335024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23560" y="1591056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Reg Rate [est]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1572768"/>
            <a:ext cx="1472184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1591056"/>
            <a:ext cx="14356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Registrations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1956816"/>
            <a:ext cx="197510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59" y="1975104"/>
            <a:ext cx="1938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Campus Ambassadors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1956816"/>
            <a:ext cx="165506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77440" y="1975104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3,500 students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1956816"/>
            <a:ext cx="832103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9080" y="1975104"/>
            <a:ext cx="795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18%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92040" y="1956816"/>
            <a:ext cx="64922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0" y="1975104"/>
            <a:ext cx="6126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630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77840" y="1956816"/>
            <a:ext cx="133502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23560" y="1975104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40%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1956816"/>
            <a:ext cx="147218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1975104"/>
            <a:ext cx="14356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252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2340864"/>
            <a:ext cx="197510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59" y="2359152"/>
            <a:ext cx="1938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Viral Referral Loop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31720" y="2340864"/>
            <a:ext cx="165506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2359152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1,200 link views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2340864"/>
            <a:ext cx="832103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9080" y="2359152"/>
            <a:ext cx="795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30%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92040" y="2340864"/>
            <a:ext cx="64922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37760" y="2359152"/>
            <a:ext cx="6126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360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77840" y="2340864"/>
            <a:ext cx="133502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23560" y="2359152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37%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49440" y="2340864"/>
            <a:ext cx="147218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95160" y="2359152"/>
            <a:ext cx="14356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133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2724912"/>
            <a:ext cx="197510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59" y="2743200"/>
            <a:ext cx="1938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Club + HOD Email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31720" y="2724912"/>
            <a:ext cx="165506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77440" y="2743200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800 addresses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360" y="2724912"/>
            <a:ext cx="832103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69080" y="2743200"/>
            <a:ext cx="795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20%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92040" y="2724912"/>
            <a:ext cx="64922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37760" y="2743200"/>
            <a:ext cx="6126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160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77840" y="2724912"/>
            <a:ext cx="133502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23560" y="2743200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50%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49440" y="2724912"/>
            <a:ext cx="147218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95160" y="2743200"/>
            <a:ext cx="14356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3108960"/>
            <a:ext cx="197510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59" y="3127248"/>
            <a:ext cx="1938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LinkedIn / Instagram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331720" y="3108960"/>
            <a:ext cx="165506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127248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2,000 impressions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023360" y="3108960"/>
            <a:ext cx="832103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69080" y="3127248"/>
            <a:ext cx="795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8%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92040" y="3108960"/>
            <a:ext cx="64922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37760" y="3127248"/>
            <a:ext cx="6126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160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77840" y="3108960"/>
            <a:ext cx="133502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23560" y="3127248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22%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949440" y="3108960"/>
            <a:ext cx="147218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95160" y="3127248"/>
            <a:ext cx="14356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35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3493008"/>
            <a:ext cx="1975104" cy="36576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65759" y="3511296"/>
            <a:ext cx="1938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E40AF"/>
                </a:solidFill>
              </a:rPr>
              <a:t>TOTAL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331720" y="3493008"/>
            <a:ext cx="1655064" cy="36576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77440" y="3511296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E40AF"/>
                </a:solidFill>
              </a:rPr>
              <a:t>7,500 combined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023360" y="3493008"/>
            <a:ext cx="832103" cy="36576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069080" y="3511296"/>
            <a:ext cx="7955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E40AF"/>
                </a:solidFill>
              </a:rPr>
              <a:t>-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92040" y="3493008"/>
            <a:ext cx="649224" cy="36576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937760" y="3511296"/>
            <a:ext cx="6126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E40AF"/>
                </a:solidFill>
              </a:rPr>
              <a:t>1,310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577840" y="3493008"/>
            <a:ext cx="1335024" cy="36576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23560" y="3511296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E40AF"/>
                </a:solidFill>
              </a:rPr>
              <a:t>-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949440" y="3493008"/>
            <a:ext cx="1472184" cy="36576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995160" y="3511296"/>
            <a:ext cx="14356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E40AF"/>
                </a:solidFill>
              </a:rPr>
              <a:t>500  GOAL MET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41080" y="15727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40AF"/>
                </a:solidFill>
              </a:rPr>
              <a:t>Rs.2,000 Budget (sums exactly)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641080" y="2029968"/>
            <a:ext cx="347472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732520" y="2075688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Top-3 Ambassador Prize Pool (600+400+200)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81360" y="2075688"/>
            <a:ext cx="1143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</a:rPr>
              <a:t>Rs.1,200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641080" y="2560320"/>
            <a:ext cx="347472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732520" y="2606040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Referral Milestone Rewards (8 winners x tiers)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81360" y="2606040"/>
            <a:ext cx="1143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</a:rPr>
              <a:t>Rs.800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641080" y="3090672"/>
            <a:ext cx="347472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732520" y="3136391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F172A"/>
                </a:solidFill>
              </a:rPr>
              <a:t>Design / Tool Costs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60" y="3136391"/>
            <a:ext cx="1143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10B981"/>
                </a:solidFill>
              </a:rPr>
              <a:t>Rs.0  (all free-tier)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641080" y="3621024"/>
            <a:ext cx="3474720" cy="493776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732520" y="3666744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F172A"/>
                </a:solidFill>
              </a:rPr>
              <a:t>TOTAL SPEND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881360" y="3666744"/>
            <a:ext cx="1143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9669"/>
                </a:solidFill>
              </a:rPr>
              <a:t>Rs.2,000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641080" y="42519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4A3B8"/>
                </a:solidFill>
              </a:rPr>
              <a:t>Note: All tools (Vercel, Supabase free tier, Canva free, Google Forms) are zero cost.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20040" y="429768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</a:rPr>
              <a:t>7-Day Campaign Calendar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20040" y="4754880"/>
            <a:ext cx="1664208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5759" y="4773168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59" y="5120640"/>
            <a:ext cx="15727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FFFFFF"/>
                </a:solidFill>
              </a:rPr>
              <a:t>Setup + Ambassador
Onboarding Kit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029968" y="4754880"/>
            <a:ext cx="1664208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075688" y="4773168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075688" y="5120640"/>
            <a:ext cx="15727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FFFFFF"/>
                </a:solidFill>
              </a:rPr>
              <a:t>WhatsApp Drop #1
18 Colleges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739896" y="4754880"/>
            <a:ext cx="1664208" cy="10058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785615" y="4773168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785615" y="5120640"/>
            <a:ext cx="15727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FFFFFF"/>
                </a:solidFill>
              </a:rPr>
              <a:t>LinkedIn Reel
+ Instagram Post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449824" y="4754880"/>
            <a:ext cx="1664208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495544" y="4773168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495544" y="5120640"/>
            <a:ext cx="15727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FFFFFF"/>
                </a:solidFill>
              </a:rPr>
              <a:t>Referral Check
+ Backup Activation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159752" y="4754880"/>
            <a:ext cx="1664208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205472" y="4773168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205472" y="5120640"/>
            <a:ext cx="15727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FFFFFF"/>
                </a:solidFill>
              </a:rPr>
              <a:t>HOD + Club
Email Blast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869680" y="4754880"/>
            <a:ext cx="1664208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915400" y="4773168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15400" y="5120640"/>
            <a:ext cx="15727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FFFFFF"/>
                </a:solidFill>
              </a:rPr>
              <a:t>T-24h Reminder
Broadcast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0579608" y="4754880"/>
            <a:ext cx="1664208" cy="10058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0625328" y="4773168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625328" y="5120640"/>
            <a:ext cx="15727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FFFFFF"/>
                </a:solidFill>
              </a:rPr>
              <a:t>Event Live
+ Certificate Drop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SLIDE 4 / 4 - METRICS, RISKS, CONTINGENCY + ASSET FEATURE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</a:rPr>
              <a:t>What We Track, What Could Fail, and What We Shipped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352044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642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</a:rPr>
              <a:t>KEY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3246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Daily registrations vs 71/day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78608"/>
            <a:ext cx="3246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Referral viral coefficient (k-factor)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54096"/>
            <a:ext cx="3246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Channel attribution via UTM 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9584"/>
            <a:ext cx="3246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Ambassador leaderboard rank per college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05072"/>
            <a:ext cx="3246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WhatsApp link CTR per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80560"/>
            <a:ext cx="3246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Form drop-off rate by 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56048"/>
            <a:ext cx="3246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Referral code redemption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31536"/>
            <a:ext cx="3246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</a:rPr>
              <a:t>- Day-3 pace check (contingency trigger)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60520" y="1554480"/>
            <a:ext cx="370332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166420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DC2626"/>
                </a:solidFill>
              </a:rPr>
              <a:t>RISKS + DAY-3 CONTINGENCY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210312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DC2626"/>
                </a:solidFill>
              </a:rPr>
              <a:t>Risk: Low Day-3 pace (&lt;150 regs)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450591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</a:rPr>
              <a:t>Fix: Activate 5 backup ambassadors + send urgency WhatsApp drop with countdown.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309067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DC2626"/>
                </a:solidFill>
              </a:rPr>
              <a:t>Risk: Ambassador no-shows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3438144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</a:rPr>
              <a:t>Fix: 2 pre-vetted backup ambassadors per college in the outreach list.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4078224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DC2626"/>
                </a:solidFill>
              </a:rPr>
              <a:t>Risk: Referral link fatigue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425696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</a:rPr>
              <a:t>Fix: Rotate across 5 pre-built message templates every 48 hours.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5065776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DC2626"/>
                </a:solidFill>
              </a:rPr>
              <a:t>Risk: LinkedIn reel underperforms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413248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</a:rPr>
              <a:t>Fix: Reallocate Rs.800 to a nano-influencer (engineering niche, 2k-10k followers).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1554480"/>
            <a:ext cx="3749039" cy="4572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166420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</a:rPr>
              <a:t>WORKING ASSET SHIPPED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2103120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</a:rPr>
              <a:t>✓ Mobile-first Registration + 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2432303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</a:rPr>
              <a:t>✓ Duplicate Protection (email + phone)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2761487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</a:rPr>
              <a:t>✓ AI Project Idea Matcher (branch+interest)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090672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</a:rPr>
              <a:t>✓ Unique Referral Code per Registrant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3419856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</a:rPr>
              <a:t>✓ 3-Tier Gamified Referral Reward Hub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3749039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</a:rPr>
              <a:t>✓ 1-Tap WhatsApp Group Share Button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078224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</a:rPr>
              <a:t>✓ Admin Telemetry + Ambassador Leaderboard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4407408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</a:rPr>
              <a:t>✓ CSV Export of All Leads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4736592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</a:rPr>
              <a:t>✓ WhatsApp 5-Template Message Kit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5065775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</a:rPr>
              <a:t>✓ Seed / Demo Mode (348 realistic leads)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394959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</a:rPr>
              <a:t>✓ Glassmorphism Blue + White UI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5724144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</a:rPr>
              <a:t>✓ All 5 Logic Tests: PASS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